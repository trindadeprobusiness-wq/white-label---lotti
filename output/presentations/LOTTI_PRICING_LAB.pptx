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32b5ea89334694" /><Relationship Type="http://schemas.openxmlformats.org/officeDocument/2006/relationships/extended-properties" Target="/docProps/app.xml" Id="R808392138db94e3d" /><Relationship Type="http://schemas.openxmlformats.org/officeDocument/2006/relationships/officeDocument" Target="/ppt/presentation.xml" Id="R21ddb6a078fc4a9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c9c633521574b72"/>
  </p:sldMasterIdLst>
  <p:notesMasterIdLst>
    <p:notesMasterId xmlns:r="http://schemas.openxmlformats.org/officeDocument/2006/relationships" r:id="Rf209b161161d49e9"/>
  </p:notesMasterIdLst>
  <p:sldIdLst>
    <p:sldId xmlns:r="http://schemas.openxmlformats.org/officeDocument/2006/relationships" id="256" r:id="R358feae939114807"/>
    <p:sldId xmlns:r="http://schemas.openxmlformats.org/officeDocument/2006/relationships" id="257" r:id="R8890792da9404791"/>
    <p:sldId xmlns:r="http://schemas.openxmlformats.org/officeDocument/2006/relationships" id="258" r:id="R27d6893686f540fd"/>
    <p:sldId xmlns:r="http://schemas.openxmlformats.org/officeDocument/2006/relationships" id="259" r:id="R7fd3bd70bcf44f95"/>
    <p:sldId xmlns:r="http://schemas.openxmlformats.org/officeDocument/2006/relationships" id="260" r:id="R94d1aa8faf5c4f02"/>
    <p:sldId xmlns:r="http://schemas.openxmlformats.org/officeDocument/2006/relationships" id="261" r:id="Rb7d00623afb04414"/>
    <p:sldId xmlns:r="http://schemas.openxmlformats.org/officeDocument/2006/relationships" id="262" r:id="R0ba212078d9943fb"/>
    <p:sldId xmlns:r="http://schemas.openxmlformats.org/officeDocument/2006/relationships" id="263" r:id="R7f772803bb8b442d"/>
    <p:sldId xmlns:r="http://schemas.openxmlformats.org/officeDocument/2006/relationships" id="264" r:id="R5b079fa453c24328"/>
    <p:sldId xmlns:r="http://schemas.openxmlformats.org/officeDocument/2006/relationships" id="265" r:id="R24f11059b0384ae1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54a622efbdd14fbb"/>
      <p:bold xmlns:r="http://schemas.openxmlformats.org/officeDocument/2006/relationships" r:id="R7640f9e058764ba7"/>
      <p:italic xmlns:r="http://schemas.openxmlformats.org/officeDocument/2006/relationships" r:id="R2d8a6abc66994dbf"/>
      <p:boldItalic xmlns:r="http://schemas.openxmlformats.org/officeDocument/2006/relationships" r:id="R0bd437b232f54c9b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b7cc76fa5c4a9f" /><Relationship Type="http://schemas.openxmlformats.org/officeDocument/2006/relationships/slideMaster" Target="/ppt/slideMasters/slideMaster1.xml" Id="Rdc9c633521574b72" /><Relationship Type="http://schemas.openxmlformats.org/officeDocument/2006/relationships/notesMaster" Target="/ppt/notesMasters/notesMaster1.xml" Id="Rf209b161161d49e9" /><Relationship Type="http://schemas.openxmlformats.org/officeDocument/2006/relationships/presProps" Target="/ppt/presProps.xml" Id="R4526a160355d43e6" /><Relationship Type="http://schemas.openxmlformats.org/officeDocument/2006/relationships/viewProps" Target="/ppt/viewProps.xml" Id="Re0b912a0de94489e" /><Relationship Type="http://schemas.openxmlformats.org/officeDocument/2006/relationships/tableStyles" Target="/ppt/tableStyles.xml" Id="R22aefbc7de474589" /><Relationship Type="http://schemas.openxmlformats.org/officeDocument/2006/relationships/font" Target="/ppt/fonts/font.dat" Id="R54a622efbdd14fbb" /><Relationship Type="http://schemas.openxmlformats.org/officeDocument/2006/relationships/font" Target="/ppt/fonts/font2.dat" Id="R7640f9e058764ba7" /><Relationship Type="http://schemas.openxmlformats.org/officeDocument/2006/relationships/font" Target="/ppt/fonts/font3.dat" Id="R2d8a6abc66994dbf" /><Relationship Type="http://schemas.openxmlformats.org/officeDocument/2006/relationships/font" Target="/ppt/fonts/font4.dat" Id="R0bd437b232f54c9b" /><Relationship Type="http://schemas.openxmlformats.org/officeDocument/2006/relationships/slide" Target="/ppt/slides/slide1.xml" Id="R358feae939114807" /><Relationship Type="http://schemas.openxmlformats.org/officeDocument/2006/relationships/slide" Target="/ppt/slides/slide2.xml" Id="R8890792da9404791" /><Relationship Type="http://schemas.openxmlformats.org/officeDocument/2006/relationships/slide" Target="/ppt/slides/slide3.xml" Id="R27d6893686f540fd" /><Relationship Type="http://schemas.openxmlformats.org/officeDocument/2006/relationships/slide" Target="/ppt/slides/slide4.xml" Id="R7fd3bd70bcf44f95" /><Relationship Type="http://schemas.openxmlformats.org/officeDocument/2006/relationships/slide" Target="/ppt/slides/slide5.xml" Id="R94d1aa8faf5c4f02" /><Relationship Type="http://schemas.openxmlformats.org/officeDocument/2006/relationships/slide" Target="/ppt/slides/slide6.xml" Id="Rb7d00623afb04414" /><Relationship Type="http://schemas.openxmlformats.org/officeDocument/2006/relationships/slide" Target="/ppt/slides/slide7.xml" Id="R0ba212078d9943fb" /><Relationship Type="http://schemas.openxmlformats.org/officeDocument/2006/relationships/slide" Target="/ppt/slides/slide8.xml" Id="R7f772803bb8b442d" /><Relationship Type="http://schemas.openxmlformats.org/officeDocument/2006/relationships/slide" Target="/ppt/slides/slide9.xml" Id="R5b079fa453c24328" /><Relationship Type="http://schemas.openxmlformats.org/officeDocument/2006/relationships/slide" Target="/ppt/slides/slide10.xml" Id="R24f11059b0384a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c0a17b286a4b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0058e6cc1547e8" /><Relationship Type="http://schemas.openxmlformats.org/officeDocument/2006/relationships/notesMaster" Target="/ppt/notesMasters/notesMaster1.xml" Id="R985769be247440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cec8e35abd4e35" /><Relationship Type="http://schemas.openxmlformats.org/officeDocument/2006/relationships/notesMaster" Target="/ppt/notesMasters/notesMaster1.xml" Id="Rb74f518025544d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e02e0fa8c94871" /><Relationship Type="http://schemas.openxmlformats.org/officeDocument/2006/relationships/notesMaster" Target="/ppt/notesMasters/notesMaster1.xml" Id="Rc8c33000d33e43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37222d157e4559" /><Relationship Type="http://schemas.openxmlformats.org/officeDocument/2006/relationships/notesMaster" Target="/ppt/notesMasters/notesMaster1.xml" Id="R2b7ea659e25c44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37c2f694294a14" /><Relationship Type="http://schemas.openxmlformats.org/officeDocument/2006/relationships/notesMaster" Target="/ppt/notesMasters/notesMaster1.xml" Id="R98e33e953d2446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42ec9f548d446b" /><Relationship Type="http://schemas.openxmlformats.org/officeDocument/2006/relationships/notesMaster" Target="/ppt/notesMasters/notesMaster1.xml" Id="Ra2de44797ac846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89affe13e449e4" /><Relationship Type="http://schemas.openxmlformats.org/officeDocument/2006/relationships/notesMaster" Target="/ppt/notesMasters/notesMaster1.xml" Id="Rac7ccb2e055a46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107ff5df21402f" /><Relationship Type="http://schemas.openxmlformats.org/officeDocument/2006/relationships/notesMaster" Target="/ppt/notesMasters/notesMaster1.xml" Id="Rd99e5d242f7340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2a58c5dcd7447e" /><Relationship Type="http://schemas.openxmlformats.org/officeDocument/2006/relationships/notesMaster" Target="/ppt/notesMasters/notesMaster1.xml" Id="Rb15fe3a9fd7d4e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e86992809243a4" /><Relationship Type="http://schemas.openxmlformats.org/officeDocument/2006/relationships/notesMaster" Target="/ppt/notesMasters/notesMaster1.xml" Id="R66ce7dafaf044e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docs/LOTTI_UNIT_ECONOMICS.xlsx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docs/ESTUDO_MERCADO_PRECIFICACAO.md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docs/LOTTI_UNIT_ECONOMICS.xlsx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https://supabase.com/pricing</a:t>
            </a:r>
          </a:p>
          <a:p xmlns:a="http://schemas.openxmlformats.org/drawingml/2006/main">
            <a:r>
              <a:t>- https://vercel.com/docs/plans/pro-plan</a:t>
            </a:r>
          </a:p>
          <a:p xmlns:a="http://schemas.openxmlformats.org/drawingml/2006/main">
            <a:r>
              <a:t>- https://ai.google.dev/gemini-api/docs/pricing</a:t>
            </a:r>
          </a:p>
          <a:p xmlns:a="http://schemas.openxmlformats.org/drawingml/2006/main">
            <a:r>
              <a:t>- https://www.asaas.com/precos-e-taxas</a:t>
            </a:r>
          </a:p>
          <a:p xmlns:a="http://schemas.openxmlformats.org/drawingml/2006/main">
            <a:r>
              <a:t>- https://whatsappbusiness.com/products/platform-pricing/</a:t>
            </a:r>
          </a:p>
          <a:p xmlns:a="http://schemas.openxmlformats.org/drawingml/2006/main">
            <a:r>
              <a:t>- https://olinda.bcb.gov.br/olinda/servico/PTAX/versao/v1/odata/</a:t>
            </a:r>
          </a:p>
          <a:p xmlns:a="http://schemas.openxmlformats.org/drawingml/2006/main">
            <a:r>
              <a:t>- docs/LOTTI_UNIT_ECONOMICS.xlsx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docs/LOTTI_UNIT_ECONOMICS.xlsx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docs/LOTTI_UNIT_ECONOMICS.xlsx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Faixa proposta para teste, não preço validado.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docs/LOTTI_UNIT_ECONOMICS.xlsx</a:t>
            </a:r>
          </a:p>
          <a:p xmlns:a="http://schemas.openxmlformats.org/drawingml/2006/main">
            <a:r>
              <a:t>- docs/ESTUDO_MERCADO_PRECIFICACAO.md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CAC e churn são hipóteses editáveis.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docs/LOTTI_UNIT_ECONOMICS.xlsx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docs/LOTTI_UNIT_ECONOMICS.xlsx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docs/ESTUDO_MERCADO_PRECIFICACAO.md</a:t>
            </a:r>
            <a:endParaRPr/>
          </a:p>
          <a:p xmlns:a="http://schemas.openxmlformats.org/drawingml/2006/main">
            <a:r>
              <a:t>- docs/LOTTI_UNIT_ECONOMICS.xlsx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b0a9e74df940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7167a0649546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5c9191033f42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ddc62e71a84b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894941e8748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f6539288f7449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9454447208475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1db88082fe4b37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0c2c2d26864789" /><Relationship Type="http://schemas.openxmlformats.org/officeDocument/2006/relationships/slideLayout" Target="/ppt/slideLayouts/slideLayout1.xml" Id="R83581a82590b4e19" /><Relationship Type="http://schemas.openxmlformats.org/officeDocument/2006/relationships/slideLayout" Target="/ppt/slideLayouts/slideLayout2.xml" Id="Ra073a2f7d2664af0" /><Relationship Type="http://schemas.openxmlformats.org/officeDocument/2006/relationships/slideLayout" Target="/ppt/slideLayouts/slideLayout3.xml" Id="R2feeb108d10f4b58" /><Relationship Type="http://schemas.openxmlformats.org/officeDocument/2006/relationships/slideLayout" Target="/ppt/slideLayouts/slideLayout4.xml" Id="R57d5efe9b53a46e6" /><Relationship Type="http://schemas.openxmlformats.org/officeDocument/2006/relationships/slideLayout" Target="/ppt/slideLayouts/slideLayout5.xml" Id="Raf6cc34c434142c0" /><Relationship Type="http://schemas.openxmlformats.org/officeDocument/2006/relationships/slideLayout" Target="/ppt/slideLayouts/slideLayout6.xml" Id="R2bb2504c352f4c3d" /><Relationship Type="http://schemas.openxmlformats.org/officeDocument/2006/relationships/slideLayout" Target="/ppt/slideLayouts/slideLayout7.xml" Id="R6cb5bd2d273846fd" /><Relationship Type="http://schemas.openxmlformats.org/officeDocument/2006/relationships/slideLayout" Target="/ppt/slideLayouts/slideLayout8.xml" Id="R94cb7c294a43453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581a82590b4e19"/>
    <p:sldLayoutId xmlns:r="http://schemas.openxmlformats.org/officeDocument/2006/relationships" id="2147483650" r:id="Ra073a2f7d2664af0"/>
    <p:sldLayoutId xmlns:r="http://schemas.openxmlformats.org/officeDocument/2006/relationships" id="2147483651" r:id="R2feeb108d10f4b58"/>
    <p:sldLayoutId xmlns:r="http://schemas.openxmlformats.org/officeDocument/2006/relationships" id="2147483652" r:id="R57d5efe9b53a46e6"/>
    <p:sldLayoutId xmlns:r="http://schemas.openxmlformats.org/officeDocument/2006/relationships" id="2147483653" r:id="Raf6cc34c434142c0"/>
    <p:sldLayoutId xmlns:r="http://schemas.openxmlformats.org/officeDocument/2006/relationships" id="2147483654" r:id="R2bb2504c352f4c3d"/>
    <p:sldLayoutId xmlns:r="http://schemas.openxmlformats.org/officeDocument/2006/relationships" id="2147483655" r:id="R6cb5bd2d273846fd"/>
    <p:sldLayoutId xmlns:r="http://schemas.openxmlformats.org/officeDocument/2006/relationships" id="2147483656" r:id="R94cb7c294a43453a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07e40b92f4aa4" /><Relationship Type="http://schemas.openxmlformats.org/officeDocument/2006/relationships/image" Target="/ppt/media/image.png" Id="R61561cf05ec44d27" /><Relationship Type="http://schemas.openxmlformats.org/officeDocument/2006/relationships/notesSlide" Target="/ppt/notesSlides/notesSlide1.xml" Id="Ra4cfe15269f647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50578f3d846bb" /><Relationship Type="http://schemas.openxmlformats.org/officeDocument/2006/relationships/notesSlide" Target="/ppt/notesSlides/notesSlide2.xml" Id="Rb8eb41ce158245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6a46d5104648bd" /><Relationship Type="http://schemas.openxmlformats.org/officeDocument/2006/relationships/notesSlide" Target="/ppt/notesSlides/notesSlide3.xml" Id="Rc8bfa65dd6934e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035a4bb54e4010" /><Relationship Type="http://schemas.openxmlformats.org/officeDocument/2006/relationships/notesSlide" Target="/ppt/notesSlides/notesSlide4.xml" Id="Rf7bea977c2ed48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97242af0ae43c2" /><Relationship Type="http://schemas.openxmlformats.org/officeDocument/2006/relationships/chart" Target="/ppt/slides/charts/chart1.xml" Id="Rfce0e8418de14e9f" /><Relationship Type="http://schemas.openxmlformats.org/officeDocument/2006/relationships/chart" Target="/ppt/slides/charts/chart2.xml" Id="R8eadde95d7434c94" /><Relationship Type="http://schemas.openxmlformats.org/officeDocument/2006/relationships/notesSlide" Target="/ppt/notesSlides/notesSlide5.xml" Id="R15121220124b46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24eb9ba2ca435a" /><Relationship Type="http://schemas.openxmlformats.org/officeDocument/2006/relationships/chart" Target="/ppt/slides/charts/chart3.xml" Id="R5d71ee8e62d84cec" /><Relationship Type="http://schemas.openxmlformats.org/officeDocument/2006/relationships/chart" Target="/ppt/slides/charts/chart4.xml" Id="Rad26dfd17f724eee" /><Relationship Type="http://schemas.openxmlformats.org/officeDocument/2006/relationships/notesSlide" Target="/ppt/notesSlides/notesSlide6.xml" Id="Rf8b7e5e3404f41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f3f21fc8d84cd5" /><Relationship Type="http://schemas.openxmlformats.org/officeDocument/2006/relationships/notesSlide" Target="/ppt/notesSlides/notesSlide7.xml" Id="R2a7e5a0cc67f4f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f4ea6efcad4a88" /><Relationship Type="http://schemas.openxmlformats.org/officeDocument/2006/relationships/chart" Target="/ppt/slides/charts/chart5.xml" Id="Rd82a1add1def47a3" /><Relationship Type="http://schemas.openxmlformats.org/officeDocument/2006/relationships/chart" Target="/ppt/slides/charts/chart6.xml" Id="R10413828ab484561" /><Relationship Type="http://schemas.openxmlformats.org/officeDocument/2006/relationships/notesSlide" Target="/ppt/notesSlides/notesSlide8.xml" Id="R719695a7b2204b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403ee8d60f490e" /><Relationship Type="http://schemas.openxmlformats.org/officeDocument/2006/relationships/notesSlide" Target="/ppt/notesSlides/notesSlide9.xml" Id="R9843d41239424c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166dde44c4f2b" /><Relationship Type="http://schemas.openxmlformats.org/officeDocument/2006/relationships/notesSlide" Target="/ppt/notesSlides/notesSlide10.xml" Id="R978d8696f7544e12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 spc="0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tx2">
                  <a:lumMod val="50000"/>
                  <a:lumOff val="50000"/>
                </a:schemeClr>
              </a:solidFill>
              <a:ln xmlns:a="http://schemas.openxmlformats.org/drawingml/2006/main"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Algn val="ctr"/>
        <c:noMultiLvlLbl val="0"/>
        <c:lblOffset val="10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  <c:majorUnit val="2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998733846690067"/>
          <c:h val="0.046123948895864915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COGS (R$)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3"/>
              <c:pt idx="0">
                <c:v>Light</c:v>
              </c:pt>
              <c:pt idx="1">
                <c:v>Normal</c:v>
              </c:pt>
              <c:pt idx="2">
                <c:v>Power</c:v>
              </c:pt>
            </c:strLit>
          </c:cat>
          <c:val>
            <c:numLit>
              <c:formatCode>R$ 0</c:formatCode>
              <c:ptCount val="3"/>
              <c:pt idx="0">
                <c:v>11.48</c:v>
              </c:pt>
              <c:pt idx="1">
                <c:v>44.49</c:v>
              </c:pt>
              <c:pt idx="2">
                <c:v>204.93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D0EDF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43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D0EDF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3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435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R$/conta/mês</a:t>
                </a:r>
              </a:p>
            </c:rich>
          </c:tx>
          <c:overlay val="0"/>
        </c:title>
        <c:numFmt formatCode="R$ 0"/>
        <c:majorTickMark val="none"/>
        <c:minorTickMark val="none"/>
        <c:spPr>
          <a:ln xmlns:a="http://schemas.openxmlformats.org/drawingml/2006/main" w="9525">
            <a:solidFill>
              <a:srgbClr val="2543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D0EDFA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 spc="0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 xmlns:a="http://schemas.openxmlformats.org/drawingml/2006/main">
              <a:schemeClr val="tx2">
                <a:lumMod val="50000"/>
                <a:lumOff val="50000"/>
              </a:schemeClr>
            </a:solidFill>
            <a:ln xmlns:a="http://schemas.openxmlformats.org/drawingml/2006/main">
              <a:solidFill>
                <a:schemeClr val="tx2">
                  <a:lumMod val="50000"/>
                  <a:lumOff val="50000"/>
                </a:schemeClr>
              </a:solidFill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overlap val="-16"/>
        <c:axId val="1785928255"/>
        <c:axId val="1769229823"/>
      </c:bar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Offset val="10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  <c:majorUnit val="2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3176846567900986"/>
          <c:h val="0.05005992543055356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Preço mínimo Normal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5"/>
              <c:pt idx="0">
                <c:v>60%</c:v>
              </c:pt>
              <c:pt idx="1">
                <c:v>70%</c:v>
              </c:pt>
              <c:pt idx="2">
                <c:v>80%</c:v>
              </c:pt>
              <c:pt idx="3">
                <c:v>85%</c:v>
              </c:pt>
              <c:pt idx="4">
                <c:v>90%</c:v>
              </c:pt>
            </c:strLit>
          </c:cat>
          <c:val>
            <c:numLit>
              <c:formatCode>R$ 0</c:formatCode>
              <c:ptCount val="5"/>
              <c:pt idx="0">
                <c:v>120.11</c:v>
              </c:pt>
              <c:pt idx="1">
                <c:v>163.38</c:v>
              </c:pt>
              <c:pt idx="2">
                <c:v>255.39</c:v>
              </c:pt>
              <c:pt idx="3">
                <c:v>355.48</c:v>
              </c:pt>
              <c:pt idx="4">
                <c:v>584.6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D0EDF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margem-alvo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43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D0EDF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6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435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R$</a:t>
                </a:r>
              </a:p>
            </c:rich>
          </c:tx>
          <c:overlay val="0"/>
        </c:title>
        <c:numFmt formatCode="R$ 0"/>
        <c:majorTickMark val="none"/>
        <c:minorTickMark val="none"/>
        <c:spPr>
          <a:ln xmlns:a="http://schemas.openxmlformats.org/drawingml/2006/main" w="9525">
            <a:solidFill>
              <a:srgbClr val="2543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D0EDFA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 spc="0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xmlns:a="http://schemas.openxmlformats.org/drawingml/2006/main" w="28575">
              <a:solidFill>
                <a:schemeClr val="accent1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accent1"/>
              </a:solidFill>
              <a:ln xmlns:a="http://schemas.openxmlformats.org/drawingml/2006/main" w="9525">
                <a:solidFill>
                  <a:schemeClr val="accent1"/>
                </a:solidFill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xmlns:a="http://schemas.openxmlformats.org/drawingml/2006/main"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chemeClr val="tx2">
                  <a:lumMod val="50000"/>
                  <a:lumOff val="50000"/>
                </a:schemeClr>
              </a:solidFill>
              <a:ln xmlns:a="http://schemas.openxmlformats.org/drawingml/2006/main" w="9525">
                <a:noFill/>
              </a:ln>
            </c:spPr>
          </c:marke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Offset val="10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xmlns:a="http://schemas.openxmlformats.org/drawingml/2006/main"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  <c:majorUnit val="2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5806745349794367"/>
          <c:y val="0.02738737462131148"/>
          <c:w val="0.3998733846690067"/>
          <c:h val="0.05004758608583646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LTV/CAC</c:v>
          </c:tx>
          <c:spPr>
            <a:ln xmlns:a="http://schemas.openxmlformats.org/drawingml/2006/main" w="28575">
              <a:solidFill>
                <a:srgbClr val="6DCBF4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6DCBF4"/>
              </a:solidFill>
            </c:spPr>
          </c:marker>
          <c:cat>
            <c:strLit>
              <c:ptCount val="4"/>
              <c:pt idx="0">
                <c:v>1,5%</c:v>
              </c:pt>
              <c:pt idx="1">
                <c:v>3%</c:v>
              </c:pt>
              <c:pt idx="2">
                <c:v>6%</c:v>
              </c:pt>
              <c:pt idx="3">
                <c:v>8%</c:v>
              </c:pt>
            </c:strLit>
          </c:cat>
          <c:val>
            <c:numLit>
              <c:formatCode>0.0x</c:formatCode>
              <c:ptCount val="4"/>
              <c:pt idx="0">
                <c:v>25.6</c:v>
              </c:pt>
              <c:pt idx="1">
                <c:v>12.8</c:v>
              </c:pt>
              <c:pt idx="2">
                <c:v>6.4</c:v>
              </c:pt>
              <c:pt idx="3">
                <c:v>4.8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D0EDF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churn mensal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543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D0EDF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5435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x</a:t>
                </a:r>
              </a:p>
            </c:rich>
          </c:tx>
          <c:overlay val="0"/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25435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D0EDFA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733" y="1907316"/>
            <a:ext cx="7174888" cy="2491490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6200"/>
              <a:t>Lotti Pricing Lab</a:t>
            </a:r>
          </a:p>
          <a:p xmlns:a="http://schemas.openxmlformats.org/drawingml/2006/main">
            <a:r>
              <a:rPr sz="6200"/>
              <a:t>2026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733" y="5264722"/>
            <a:ext cx="6910483" cy="1080246"/>
          </a:xfrm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800"/>
              <a:t>Cenários de preço | Unit economics e stress tests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34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DECISÃO DOS FUNDADORES</a:t>
            </a:r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61cf05ec44d27"/>
          <a:srcRect xmlns:a="http://schemas.openxmlformats.org/drawingml/2006/main" l="8269" t="0" r="8269" b="0"/>
          <a:stretch xmlns:a="http://schemas.openxmlformats.org/drawingml/2006/main"/>
        </p:blipFill>
        <p:spPr>
          <a:xfrm xmlns:a="http://schemas.openxmlformats.org/drawingml/2006/main">
            <a:off x="7899094" y="0"/>
            <a:ext cx="4292906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3712696"/>
            <a:ext cx="9448800" cy="2491490"/>
          </a:xfrm>
        </p:spPr>
        <p:txBody>
          <a:bodyPr xmlns:a="http://schemas.openxmlformats.org/drawingml/2006/main">
            <a:normAutofit fontScale="84096"/>
          </a:bodyPr>
          <a:lstStyle xmlns:a="http://schemas.openxmlformats.org/drawingml/2006/main"/>
          <a:p xmlns:a="http://schemas.openxmlformats.org/drawingml/2006/main">
            <a:r>
              <a:rPr sz="7200"/>
              <a:t>Preço não é um número.</a:t>
            </a:r>
          </a:p>
          <a:p xmlns:a="http://schemas.openxmlformats.org/drawingml/2006/main">
            <a:r>
              <a:rPr sz="7200"/>
              <a:t>É um sistema de limites, margem e expansão.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6157826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TESE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LOTTI • AGOSTO 2026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Experimentos deste laboratório</a:t>
            </a:r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393700" y="2080009"/>
          <a:ext xmlns:a="http://schemas.openxmlformats.org/drawingml/2006/main" cx="11404600" cy="391438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/>
                <a:gridCol w="10526091"/>
              </a:tblGrid>
              <a:tr h="65239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Perfis de uso e COGS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Pisos de preço por margem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Faixas de pricing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CAC, churn e payback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Stress tests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0"/>
            <a:ext cx="0" cy="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Perfis de uso: o custo varia 18×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Light — baixa IA, documentos e suporte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Power — exige créditos e guardrails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Normal — hipótese central de COGS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256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R$11,48</a:t>
            </a:r>
            <a:endParaRPr sz="7500"/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256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R$44,49</a:t>
            </a:r>
            <a:endParaRPr sz="7500"/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8039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5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R$204,93</a:t>
            </a:r>
            <a:endParaRPr sz="7500"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38300"/>
            <a:ext cx="11404599" cy="15994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Por que importa</a:t>
            </a:r>
          </a:p>
          <a:p xmlns:a="http://schemas.openxmlformats.org/drawingml/2006/main">
            <a:r>
              <a:t>Uma média esconde o perfil Power. Pricing precisa limitar consumo variável e preservar expansão paga.</a:t>
            </a:r>
          </a:p>
        </p:txBody>
      </p:sp>
      <p:sp>
        <p:nvSpPr>
          <p:cNvPr id="9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472BC53-6948-EE0F-E8E5-5488EF53DF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COGS direto por perfil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0871A73-A37A-1E7C-6089-9D4D7E09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C7B8C8B-F20A-31B8-CB9E-D406AEA7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780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Normal</a:t>
            </a:r>
          </a:p>
          <a:p xmlns:a="http://schemas.openxmlformats.org/drawingml/2006/main">
            <a:r>
              <a:t>R$44,49 • 25% do mix de uso assumido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06E7539-B6D2-84FE-7719-21D73815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937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0BFF6E-013F-2CA5-21F9-98283DFC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688632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780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Light</a:t>
            </a:r>
          </a:p>
          <a:p xmlns:a="http://schemas.openxmlformats.org/drawingml/2006/main">
            <a:r>
              <a:t>R$11,48 • 70% do mix de uso assumido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4E18E5B-6405-1268-D0C6-02B9E1F8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8153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F7239E1-4EF6-5723-3651-1149031A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7646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7805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Power</a:t>
            </a:r>
          </a:p>
          <a:p xmlns:a="http://schemas.openxmlformats.org/drawingml/2006/main">
            <a:r>
              <a:t>R$204,93 • 5% do mix de uso assumido</a:t>
            </a:r>
          </a:p>
        </p:txBody>
      </p:sp>
      <p:graphicFrame>
        <p:nvGraphicFramePr>
          <p:cNvPr id="545" name="Chart 3" hidden="1"/>
          <p:cNvGraphicFramePr/>
          <p:nvPr/>
        </p:nvGraphicFramePr>
        <p:xfrm>
          <a:off xmlns:a="http://schemas.openxmlformats.org/drawingml/2006/main" x="408690" y="1054100"/>
          <a:ext xmlns:a="http://schemas.openxmlformats.org/drawingml/2006/main" cx="5124182" cy="545200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e0e8418de14e9f"/>
          </a:graphicData>
        </a:graphic>
      </p:graphicFrame>
      <p:graphicFrame>
        <p:nvGraphicFramePr>
          <p:cNvPr id="546" name="Chart"/>
          <p:cNvGraphicFramePr/>
          <p:nvPr/>
        </p:nvGraphicFramePr>
        <p:xfrm>
          <a:off xmlns:a="http://schemas.openxmlformats.org/drawingml/2006/main" x="408718" y="1054132"/>
          <a:ext xmlns:a="http://schemas.openxmlformats.org/drawingml/2006/main" cx="5124164" cy="545201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adde95d7434c94"/>
          </a:graphicData>
        </a:graphic>
      </p:graphicFrame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34472" y="6037263"/>
            <a:ext cx="3568700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Piso de preço cresce exponencialmente com a margem-alvo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R$120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piso aproximado para 60% de margem bruta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R$255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piso aproximado para 80% de margem bruta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Perfil Normal</a:t>
            </a:r>
          </a:p>
          <a:p xmlns:a="http://schemas.openxmlformats.org/drawingml/2006/main">
            <a:r>
              <a:t>Preço mínimo inclui custo absoluto e custos percentuais; impostos ficam na contribuição.</a:t>
            </a:r>
          </a:p>
        </p:txBody>
      </p:sp>
      <p:graphicFrame>
        <p:nvGraphicFramePr>
          <p:cNvPr id="54" name="Chart 2" hidden="1"/>
          <p:cNvGraphicFramePr/>
          <p:nvPr/>
        </p:nvGraphicFramePr>
        <p:xfrm>
          <a:off xmlns:a="http://schemas.openxmlformats.org/drawingml/2006/main" x="634472" y="1322449"/>
          <a:ext xmlns:a="http://schemas.openxmlformats.org/drawingml/2006/main" cx="5029728" cy="478459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71ee8e62d84cec"/>
          </a:graphicData>
        </a:graphic>
      </p:graphicFrame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634460" y="1322451"/>
          <a:ext xmlns:a="http://schemas.openxmlformats.org/drawingml/2006/main" cx="5029771" cy="478459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26dfd17f724eee"/>
          </a:graphicData>
        </a:graphic>
      </p:graphicFrame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538F830-7B9C-051B-DC12-9F0215005D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B6D1D8A-CA3D-A434-0754-9F35315A762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2C5976F4-A9B2-F2E7-4978-328D7E79FE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Faixa equilibrada: entrada defensável, expansão legível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7D69EA21-5FE9-B469-0E69-24415040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F19569-DF26-117A-C6D2-24D6F235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1" y="4784271"/>
            <a:ext cx="3068638" cy="212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7296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 partir de</a:t>
            </a:r>
            <a:endParaRPr sz="1400"/>
          </a:p>
        </p:txBody>
      </p:sp>
      <p:sp>
        <p:nvSpPr>
          <p:cNvPr id="16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E85BCA0B-F11A-3F91-BFDC-60A710EB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1" y="5282152"/>
            <a:ext cx="1705769" cy="4818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R$129</a:t>
            </a:r>
            <a:endParaRPr/>
          </a:p>
        </p:txBody>
      </p:sp>
      <p:sp>
        <p:nvSpPr>
          <p:cNvPr id="17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4A72865-CE67-0213-93F1-FBB87D27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500" y="5424772"/>
            <a:ext cx="1362869" cy="212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7296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/ mês</a:t>
            </a:r>
            <a:endParaRPr sz="1400"/>
          </a:p>
        </p:txBody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8D0B0826-6F74-4ECB-B2CA-68925755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60" y="5071312"/>
            <a:ext cx="3069772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8DF5D157-47FC-7EDC-1523-10F26CA2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2000"/>
            <a:ext cx="3568700" cy="3962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6989FC58-6651-988F-2173-E553A262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2316048"/>
            <a:ext cx="3068638" cy="20400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Profissional</a:t>
            </a:r>
          </a:p>
          <a:p xmlns:a="http://schemas.openxmlformats.org/drawingml/2006/main">
            <a:r>
              <a:t>2 usuários • locações • Asaas • IA ampliada</a:t>
            </a:r>
          </a:p>
        </p:txBody>
      </p:sp>
      <p:sp>
        <p:nvSpPr>
          <p:cNvPr id="7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3E66672F-F530-8131-AE17-7D8B0C45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4784271"/>
            <a:ext cx="3068638" cy="212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7296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 partir de</a:t>
            </a:r>
            <a:endParaRPr sz="1400"/>
          </a:p>
        </p:txBody>
      </p:sp>
      <p:sp>
        <p:nvSpPr>
          <p:cNvPr id="10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E695EE02-BC3C-19F6-65E7-0966804A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5331" y="5282152"/>
            <a:ext cx="1705769" cy="4818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R$249</a:t>
            </a:r>
            <a:endParaRPr/>
          </a:p>
        </p:txBody>
      </p:sp>
      <p:sp>
        <p:nvSpPr>
          <p:cNvPr id="1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932C659A-53B8-CC59-46D1-4E699E19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5424772"/>
            <a:ext cx="1362869" cy="212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7296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/ mês</a:t>
            </a:r>
            <a:endParaRPr sz="1400"/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6F0D3371-2EFD-45A0-8408-0B42079F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660" y="5071312"/>
            <a:ext cx="3069772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430AB07-EA64-D93C-CF24-3EDCC4BE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032000"/>
            <a:ext cx="3568700" cy="3962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6D411AC2-1983-F431-63FB-933A1803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31" y="2316048"/>
            <a:ext cx="3068638" cy="20400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Imobiliária</a:t>
            </a:r>
          </a:p>
          <a:p xmlns:a="http://schemas.openxmlformats.org/drawingml/2006/main">
            <a:r>
              <a:t>10 usuários • escala • time • maior capacidade</a:t>
            </a:r>
          </a:p>
        </p:txBody>
      </p:sp>
      <p:sp>
        <p:nvSpPr>
          <p:cNvPr id="18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334A3E4-1071-DA4F-DDF0-F8AB2F67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31" y="4784271"/>
            <a:ext cx="3068638" cy="212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7296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 partir de</a:t>
            </a:r>
            <a:endParaRPr sz="1400"/>
          </a:p>
        </p:txBody>
      </p:sp>
      <p:sp>
        <p:nvSpPr>
          <p:cNvPr id="20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AC48D9A-ED1F-3DF8-29B1-38FC259F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931" y="5282152"/>
            <a:ext cx="1705769" cy="4818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R$499</a:t>
            </a:r>
            <a:endParaRPr/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8D7AA20E-1806-08EF-DC79-F6242615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24772"/>
            <a:ext cx="1362869" cy="212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7296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/ mês</a:t>
            </a:r>
            <a:endParaRPr sz="1400"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925A2A4C-A812-45AF-A922-871EECFB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260" y="5071312"/>
            <a:ext cx="3069772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141939D6-9D6D-42BA-25A5-C8039DC2C624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42144" y="2316163"/>
            <a:ext cx="3070225" cy="203993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Essencial</a:t>
            </a:r>
          </a:p>
          <a:p xmlns:a="http://schemas.openxmlformats.org/drawingml/2006/main">
            <a:r>
              <a:t>1 usuário • núcleo comercial • limites claros</a:t>
            </a:r>
          </a:p>
        </p:txBody>
      </p:sp>
    </p:spTree>
    <p:extLst>
      <p:ext uri="{BB962C8B-B14F-4D97-AF65-F5344CB8AC3E}">
        <p14:creationId xmlns:p14="http://schemas.microsoft.com/office/powerpoint/2010/main" val="34753604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82F118-C6BB-3BC4-35D2-F1406F35370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3D601CC-90EA-4B7E-D56D-42EF2FCCAB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4AEA3A7D-DBCA-D3E4-FBE6-7DFA3D3F5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Churn comprime LTV muito antes de afetar MRR visível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AD9F0FEC-2745-EA90-4350-ECA01396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360085"/>
            <a:ext cx="2581975" cy="2656541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F2C50E3-28B0-6CBB-D0C2-A884FA6A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579974"/>
            <a:ext cx="2133315" cy="11558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12,8×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7309BA0-73E7-AB92-9FFA-3CB6E7D2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LTV/CAC no cenário-base: CAC R$450, churn 3%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5BFE1F75-4AAC-629D-4488-BAAF3101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360085"/>
            <a:ext cx="2581975" cy="2656541"/>
          </a:xfrm>
          <a:prstGeom xmlns:a="http://schemas.openxmlformats.org/drawingml/2006/main" prst="roundRect">
            <a:avLst>
              <a:gd name="adj" fmla="val 4984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D16FA6-BF88-7DA4-7782-F905386C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579974"/>
            <a:ext cx="2133315" cy="11558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3,0m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E0E4F2E-E5BA-848F-0BB2-B4A15FA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payback com contribuição mensal de R$151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313AA-3A24-CBDF-D666-09D4229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1955554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O principal risco não é a taxa do gateway. É adquirir contas que não ativam, consomem suporte e cancelam antes do payback.</a:t>
            </a:r>
          </a:p>
        </p:txBody>
      </p:sp>
      <p:graphicFrame>
        <p:nvGraphicFramePr>
          <p:cNvPr id="56" name="Chart 2" hidden="1"/>
          <p:cNvGraphicFramePr/>
          <p:nvPr/>
        </p:nvGraphicFramePr>
        <p:xfrm>
          <a:off xmlns:a="http://schemas.openxmlformats.org/drawingml/2006/main" x="385834" y="1254715"/>
          <a:ext xmlns:a="http://schemas.openxmlformats.org/drawingml/2006/main" cx="5534180" cy="502457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2a1add1def47a3"/>
          </a:graphicData>
        </a:graphic>
      </p:graphicFrame>
      <p:graphicFrame>
        <p:nvGraphicFramePr>
          <p:cNvPr id="57" name="Chart"/>
          <p:cNvGraphicFramePr/>
          <p:nvPr/>
        </p:nvGraphicFramePr>
        <p:xfrm>
          <a:off xmlns:a="http://schemas.openxmlformats.org/drawingml/2006/main" x="385858" y="1254728"/>
          <a:ext xmlns:a="http://schemas.openxmlformats.org/drawingml/2006/main" cx="5534216" cy="502453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413828ab484561"/>
          </a:graphicData>
        </a:graphic>
      </p:graphicFrame>
    </p:spTree>
    <p:extLst>
      <p:ext uri="{BB962C8B-B14F-4D97-AF65-F5344CB8AC3E}">
        <p14:creationId xmlns:p14="http://schemas.microsoft.com/office/powerpoint/2010/main" val="37768091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Stress tests: a faixa segura não elimina execução ruim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b="1"/>
              <a:t>Leitura</a:t>
            </a:r>
          </a:p>
          <a:p xmlns:a="http://schemas.openxmlformats.org/drawingml/2006/main">
            <a:r>
              <a:t>A proposta equilibrada suporta cenários duros, mas perde robustez com churn, COGS e suporte simultaneamente altos.</a:t>
            </a:r>
          </a:p>
        </p:txBody>
      </p:sp>
      <p:graphicFrame>
        <p:nvGraphicFramePr>
          <p:cNvPr id="539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906063"/>
                <a:gridCol w="1874634"/>
                <a:gridCol w="1874634"/>
                <a:gridCol w="1874634"/>
                <a:gridCol w="1874634"/>
              </a:tblGrid>
              <a:tr h="43702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Cenário</a:t>
                      </a:r>
                      <a:endParaRPr sz="1400" b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Churn</a:t>
                      </a:r>
                      <a:endParaRPr sz="1400" b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CAC</a:t>
                      </a:r>
                      <a:endParaRPr sz="1400" b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GM</a:t>
                      </a:r>
                      <a:endParaRPr sz="1400" b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Leitura</a:t>
                      </a:r>
                      <a:endParaRPr sz="1400" b="1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905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Base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3%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R$450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83%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forte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Churn alto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8%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R$450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83%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vigiar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CAC alto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3%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R$900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83%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payback 6m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Power 10%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3%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R$450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79%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limitar IA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Preço -15%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3%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R$450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80%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sem folga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Combinado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8%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R$900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75%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não escalar</a:t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694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4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rmAutofit fontScale="97610"/>
          </a:bodyPr>
          <a:lstStyle xmlns:a="http://schemas.openxmlformats.org/drawingml/2006/main"/>
          <a:p xmlns:a="http://schemas.openxmlformats.org/drawingml/2006/main">
            <a:r>
              <a:rPr sz="7200"/>
              <a:t>Teste a faixa. Meça a coorte. Proteja a margem.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3568700" cy="1080246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000"/>
              <a:t>R$129 / R$249 / R$499</a:t>
            </a:r>
          </a:p>
          <a:p xmlns:a="http://schemas.openxmlformats.org/drawingml/2006/main">
            <a:r>
              <a:rPr sz="2000"/>
              <a:t>14 dias de trial • limites claros • decisão em 90 dias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LOTTI PRICING LAB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2026-08-13T01:36:33.1430000Z</dcterms:created>
  <dcterms:modified xsi:type="dcterms:W3CDTF">2026-08-13T01:36:33.1430000Z</dcterms:modified>
</coreProperties>
</file>