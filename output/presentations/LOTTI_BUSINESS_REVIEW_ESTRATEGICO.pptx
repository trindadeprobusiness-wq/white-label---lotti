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e97204514c4d8c" /><Relationship Type="http://schemas.openxmlformats.org/officeDocument/2006/relationships/extended-properties" Target="/docProps/app.xml" Id="R1fd60be19fd34874" /><Relationship Type="http://schemas.openxmlformats.org/officeDocument/2006/relationships/officeDocument" Target="/ppt/presentation.xml" Id="R41721b17038b4fb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c0826a34aa64679"/>
  </p:sldMasterIdLst>
  <p:notesMasterIdLst>
    <p:notesMasterId xmlns:r="http://schemas.openxmlformats.org/officeDocument/2006/relationships" r:id="R33714aafca2847f1"/>
  </p:notesMasterIdLst>
  <p:sldIdLst>
    <p:sldId xmlns:r="http://schemas.openxmlformats.org/officeDocument/2006/relationships" id="256" r:id="Ref726b931c044de4"/>
    <p:sldId xmlns:r="http://schemas.openxmlformats.org/officeDocument/2006/relationships" id="257" r:id="Rb37e49fc359d4408"/>
    <p:sldId xmlns:r="http://schemas.openxmlformats.org/officeDocument/2006/relationships" id="258" r:id="R5868ddd8d5e947cc"/>
    <p:sldId xmlns:r="http://schemas.openxmlformats.org/officeDocument/2006/relationships" id="259" r:id="Ra0c994be605e47d2"/>
    <p:sldId xmlns:r="http://schemas.openxmlformats.org/officeDocument/2006/relationships" id="260" r:id="R3062a4578d4c4221"/>
    <p:sldId xmlns:r="http://schemas.openxmlformats.org/officeDocument/2006/relationships" id="261" r:id="Ra4f8b17da43f4142"/>
    <p:sldId xmlns:r="http://schemas.openxmlformats.org/officeDocument/2006/relationships" id="262" r:id="Rb497dd290a9d4340"/>
    <p:sldId xmlns:r="http://schemas.openxmlformats.org/officeDocument/2006/relationships" id="263" r:id="Ra04b39bd81bc4474"/>
    <p:sldId xmlns:r="http://schemas.openxmlformats.org/officeDocument/2006/relationships" id="264" r:id="R6db78ba03a4242fa"/>
    <p:sldId xmlns:r="http://schemas.openxmlformats.org/officeDocument/2006/relationships" id="265" r:id="Ra5f5965911b44549"/>
    <p:sldId xmlns:r="http://schemas.openxmlformats.org/officeDocument/2006/relationships" id="266" r:id="R7c90bb97ddf6469a"/>
    <p:sldId xmlns:r="http://schemas.openxmlformats.org/officeDocument/2006/relationships" id="267" r:id="R2ad9c39288114871"/>
    <p:sldId xmlns:r="http://schemas.openxmlformats.org/officeDocument/2006/relationships" id="268" r:id="Rc10223a9dd604a22"/>
    <p:sldId xmlns:r="http://schemas.openxmlformats.org/officeDocument/2006/relationships" id="269" r:id="Rbd7e0cb2a65e48d1"/>
    <p:sldId xmlns:r="http://schemas.openxmlformats.org/officeDocument/2006/relationships" id="270" r:id="R6096ad9de03f4bee"/>
    <p:sldId xmlns:r="http://schemas.openxmlformats.org/officeDocument/2006/relationships" id="271" r:id="Rcd52001e74754c1a"/>
    <p:sldId xmlns:r="http://schemas.openxmlformats.org/officeDocument/2006/relationships" id="272" r:id="R36d6ee9641ac425e"/>
    <p:sldId xmlns:r="http://schemas.openxmlformats.org/officeDocument/2006/relationships" id="273" r:id="R6d4f96951ed04206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d1fd2c3cd6294d85"/>
      <p:italic xmlns:r="http://schemas.openxmlformats.org/officeDocument/2006/relationships" r:id="Re5586a6db86a4eea"/>
    </p:embeddedFont>
    <p:embeddedFont>
      <p:font typeface="Lora SemiBold"/>
      <p:regular xmlns:r="http://schemas.openxmlformats.org/officeDocument/2006/relationships" r:id="R456c45a90ec34211"/>
      <p:bold xmlns:r="http://schemas.openxmlformats.org/officeDocument/2006/relationships" r:id="Rf8ecc911c38c47b6"/>
      <p:italic xmlns:r="http://schemas.openxmlformats.org/officeDocument/2006/relationships" r:id="R4b0148208bdb45f8"/>
      <p:boldItalic xmlns:r="http://schemas.openxmlformats.org/officeDocument/2006/relationships" r:id="R5fe90a2b8d684be9"/>
    </p:embeddedFont>
    <p:embeddedFont>
      <p:font typeface="OpenAI Sans"/>
      <p:regular xmlns:r="http://schemas.openxmlformats.org/officeDocument/2006/relationships" r:id="R84926fd4cddf4faa"/>
      <p:bold xmlns:r="http://schemas.openxmlformats.org/officeDocument/2006/relationships" r:id="Rb44cac93efb24247"/>
      <p:italic xmlns:r="http://schemas.openxmlformats.org/officeDocument/2006/relationships" r:id="Rab6e64eee376422c"/>
      <p:boldItalic xmlns:r="http://schemas.openxmlformats.org/officeDocument/2006/relationships" r:id="Rffb0184f4fff4a41"/>
    </p:embeddedFont>
    <p:embeddedFont>
      <p:font typeface="Roboto"/>
      <p:regular xmlns:r="http://schemas.openxmlformats.org/officeDocument/2006/relationships" r:id="Rd70c7b2ff64540de"/>
      <p:bold xmlns:r="http://schemas.openxmlformats.org/officeDocument/2006/relationships" r:id="R77afa20775474771"/>
      <p:italic xmlns:r="http://schemas.openxmlformats.org/officeDocument/2006/relationships" r:id="Re2a3d5b111384ba8"/>
      <p:boldItalic xmlns:r="http://schemas.openxmlformats.org/officeDocument/2006/relationships" r:id="Rec0a1b1ca0d34325"/>
    </p:embeddedFont>
    <p:embeddedFont>
      <p:font typeface="Roboto Medium"/>
      <p:regular xmlns:r="http://schemas.openxmlformats.org/officeDocument/2006/relationships" r:id="R5c1cfa1c7def4a72"/>
      <p:italic xmlns:r="http://schemas.openxmlformats.org/officeDocument/2006/relationships" r:id="Radb7a0a6c2cb43d3"/>
    </p:embeddedFont>
    <p:embeddedFont>
      <p:font typeface="Roboto SemiBold"/>
      <p:regular xmlns:r="http://schemas.openxmlformats.org/officeDocument/2006/relationships" r:id="Radaa302943654670"/>
      <p:bold xmlns:r="http://schemas.openxmlformats.org/officeDocument/2006/relationships" r:id="R7714961ad9c3460d"/>
      <p:italic xmlns:r="http://schemas.openxmlformats.org/officeDocument/2006/relationships" r:id="Ra79dc4fac775407d"/>
      <p:boldItalic xmlns:r="http://schemas.openxmlformats.org/officeDocument/2006/relationships" r:id="R391bddf70ad64863"/>
    </p:embeddedFont>
    <p:embeddedFont>
      <p:font typeface="Roboto Serif 14pt"/>
      <p:regular xmlns:r="http://schemas.openxmlformats.org/officeDocument/2006/relationships" r:id="Rbf88e306e1cf4de7"/>
      <p:bold xmlns:r="http://schemas.openxmlformats.org/officeDocument/2006/relationships" r:id="Rcd512928a88f4c26"/>
      <p:italic xmlns:r="http://schemas.openxmlformats.org/officeDocument/2006/relationships" r:id="Rd4d9c072db084a99"/>
      <p:boldItalic xmlns:r="http://schemas.openxmlformats.org/officeDocument/2006/relationships" r:id="R3046d7fd8ff442b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03f2a9a7a84565" /><Relationship Type="http://schemas.openxmlformats.org/officeDocument/2006/relationships/slideMaster" Target="/ppt/slideMasters/slideMaster1.xml" Id="R8c0826a34aa64679" /><Relationship Type="http://schemas.openxmlformats.org/officeDocument/2006/relationships/notesMaster" Target="/ppt/notesMasters/notesMaster1.xml" Id="R33714aafca2847f1" /><Relationship Type="http://schemas.openxmlformats.org/officeDocument/2006/relationships/presProps" Target="/ppt/presProps.xml" Id="R90b01608bd264a67" /><Relationship Type="http://schemas.openxmlformats.org/officeDocument/2006/relationships/viewProps" Target="/ppt/viewProps.xml" Id="R0dae1cc4faf844c1" /><Relationship Type="http://schemas.openxmlformats.org/officeDocument/2006/relationships/tableStyles" Target="/ppt/tableStyles.xml" Id="Re115804ffc164377" /><Relationship Type="http://schemas.openxmlformats.org/officeDocument/2006/relationships/font" Target="/ppt/fonts/font.dat" Id="Rd1fd2c3cd6294d85" /><Relationship Type="http://schemas.openxmlformats.org/officeDocument/2006/relationships/font" Target="/ppt/fonts/font2.dat" Id="Re5586a6db86a4eea" /><Relationship Type="http://schemas.openxmlformats.org/officeDocument/2006/relationships/font" Target="/ppt/fonts/font3.dat" Id="R456c45a90ec34211" /><Relationship Type="http://schemas.openxmlformats.org/officeDocument/2006/relationships/font" Target="/ppt/fonts/font4.dat" Id="Rf8ecc911c38c47b6" /><Relationship Type="http://schemas.openxmlformats.org/officeDocument/2006/relationships/font" Target="/ppt/fonts/font5.dat" Id="R4b0148208bdb45f8" /><Relationship Type="http://schemas.openxmlformats.org/officeDocument/2006/relationships/font" Target="/ppt/fonts/font6.dat" Id="R5fe90a2b8d684be9" /><Relationship Type="http://schemas.openxmlformats.org/officeDocument/2006/relationships/font" Target="/ppt/fonts/font7.dat" Id="R84926fd4cddf4faa" /><Relationship Type="http://schemas.openxmlformats.org/officeDocument/2006/relationships/font" Target="/ppt/fonts/font8.dat" Id="Rb44cac93efb24247" /><Relationship Type="http://schemas.openxmlformats.org/officeDocument/2006/relationships/font" Target="/ppt/fonts/font9.dat" Id="Rab6e64eee376422c" /><Relationship Type="http://schemas.openxmlformats.org/officeDocument/2006/relationships/font" Target="/ppt/fonts/font10.dat" Id="Rffb0184f4fff4a41" /><Relationship Type="http://schemas.openxmlformats.org/officeDocument/2006/relationships/font" Target="/ppt/fonts/font11.dat" Id="Rd70c7b2ff64540de" /><Relationship Type="http://schemas.openxmlformats.org/officeDocument/2006/relationships/font" Target="/ppt/fonts/font12.dat" Id="R77afa20775474771" /><Relationship Type="http://schemas.openxmlformats.org/officeDocument/2006/relationships/font" Target="/ppt/fonts/font13.dat" Id="Re2a3d5b111384ba8" /><Relationship Type="http://schemas.openxmlformats.org/officeDocument/2006/relationships/font" Target="/ppt/fonts/font14.dat" Id="Rec0a1b1ca0d34325" /><Relationship Type="http://schemas.openxmlformats.org/officeDocument/2006/relationships/font" Target="/ppt/fonts/font15.dat" Id="R5c1cfa1c7def4a72" /><Relationship Type="http://schemas.openxmlformats.org/officeDocument/2006/relationships/font" Target="/ppt/fonts/font16.dat" Id="Radb7a0a6c2cb43d3" /><Relationship Type="http://schemas.openxmlformats.org/officeDocument/2006/relationships/font" Target="/ppt/fonts/font17.dat" Id="Radaa302943654670" /><Relationship Type="http://schemas.openxmlformats.org/officeDocument/2006/relationships/font" Target="/ppt/fonts/font18.dat" Id="R7714961ad9c3460d" /><Relationship Type="http://schemas.openxmlformats.org/officeDocument/2006/relationships/font" Target="/ppt/fonts/font19.dat" Id="Ra79dc4fac775407d" /><Relationship Type="http://schemas.openxmlformats.org/officeDocument/2006/relationships/font" Target="/ppt/fonts/font20.dat" Id="R391bddf70ad64863" /><Relationship Type="http://schemas.openxmlformats.org/officeDocument/2006/relationships/font" Target="/ppt/fonts/font21.dat" Id="Rbf88e306e1cf4de7" /><Relationship Type="http://schemas.openxmlformats.org/officeDocument/2006/relationships/font" Target="/ppt/fonts/font22.dat" Id="Rcd512928a88f4c26" /><Relationship Type="http://schemas.openxmlformats.org/officeDocument/2006/relationships/font" Target="/ppt/fonts/font23.dat" Id="Rd4d9c072db084a99" /><Relationship Type="http://schemas.openxmlformats.org/officeDocument/2006/relationships/font" Target="/ppt/fonts/font24.dat" Id="R3046d7fd8ff442bc" /><Relationship Type="http://schemas.openxmlformats.org/officeDocument/2006/relationships/slide" Target="/ppt/slides/slide1.xml" Id="Ref726b931c044de4" /><Relationship Type="http://schemas.openxmlformats.org/officeDocument/2006/relationships/slide" Target="/ppt/slides/slide2.xml" Id="Rb37e49fc359d4408" /><Relationship Type="http://schemas.openxmlformats.org/officeDocument/2006/relationships/slide" Target="/ppt/slides/slide3.xml" Id="R5868ddd8d5e947cc" /><Relationship Type="http://schemas.openxmlformats.org/officeDocument/2006/relationships/slide" Target="/ppt/slides/slide4.xml" Id="Ra0c994be605e47d2" /><Relationship Type="http://schemas.openxmlformats.org/officeDocument/2006/relationships/slide" Target="/ppt/slides/slide5.xml" Id="R3062a4578d4c4221" /><Relationship Type="http://schemas.openxmlformats.org/officeDocument/2006/relationships/slide" Target="/ppt/slides/slide6.xml" Id="Ra4f8b17da43f4142" /><Relationship Type="http://schemas.openxmlformats.org/officeDocument/2006/relationships/slide" Target="/ppt/slides/slide7.xml" Id="Rb497dd290a9d4340" /><Relationship Type="http://schemas.openxmlformats.org/officeDocument/2006/relationships/slide" Target="/ppt/slides/slide8.xml" Id="Ra04b39bd81bc4474" /><Relationship Type="http://schemas.openxmlformats.org/officeDocument/2006/relationships/slide" Target="/ppt/slides/slide9.xml" Id="R6db78ba03a4242fa" /><Relationship Type="http://schemas.openxmlformats.org/officeDocument/2006/relationships/slide" Target="/ppt/slides/slide10.xml" Id="Ra5f5965911b44549" /><Relationship Type="http://schemas.openxmlformats.org/officeDocument/2006/relationships/slide" Target="/ppt/slides/slide11.xml" Id="R7c90bb97ddf6469a" /><Relationship Type="http://schemas.openxmlformats.org/officeDocument/2006/relationships/slide" Target="/ppt/slides/slide12.xml" Id="R2ad9c39288114871" /><Relationship Type="http://schemas.openxmlformats.org/officeDocument/2006/relationships/slide" Target="/ppt/slides/slide13.xml" Id="Rc10223a9dd604a22" /><Relationship Type="http://schemas.openxmlformats.org/officeDocument/2006/relationships/slide" Target="/ppt/slides/slide14.xml" Id="Rbd7e0cb2a65e48d1" /><Relationship Type="http://schemas.openxmlformats.org/officeDocument/2006/relationships/slide" Target="/ppt/slides/slide15.xml" Id="R6096ad9de03f4bee" /><Relationship Type="http://schemas.openxmlformats.org/officeDocument/2006/relationships/slide" Target="/ppt/slides/slide16.xml" Id="Rcd52001e74754c1a" /><Relationship Type="http://schemas.openxmlformats.org/officeDocument/2006/relationships/slide" Target="/ppt/slides/slide17.xml" Id="R36d6ee9641ac425e" /><Relationship Type="http://schemas.openxmlformats.org/officeDocument/2006/relationships/slide" Target="/ppt/slides/slide18.xml" Id="R6d4f96951ed042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f81b597b745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ae47c4fac4654" /><Relationship Type="http://schemas.openxmlformats.org/officeDocument/2006/relationships/notesMaster" Target="/ppt/notesMasters/notesMaster1.xml" Id="R6b995ff462ab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a00116da43443f" /><Relationship Type="http://schemas.openxmlformats.org/officeDocument/2006/relationships/notesMaster" Target="/ppt/notesMasters/notesMaster1.xml" Id="Re58262e498da46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d733b07ff8426b" /><Relationship Type="http://schemas.openxmlformats.org/officeDocument/2006/relationships/notesMaster" Target="/ppt/notesMasters/notesMaster1.xml" Id="Rcfaf352712de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3f7451b584d1f" /><Relationship Type="http://schemas.openxmlformats.org/officeDocument/2006/relationships/notesMaster" Target="/ppt/notesMasters/notesMaster1.xml" Id="R18bf3b348b1b4d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4663e1dd254a47" /><Relationship Type="http://schemas.openxmlformats.org/officeDocument/2006/relationships/notesMaster" Target="/ppt/notesMasters/notesMaster1.xml" Id="R544beb0b1ad441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64043af864a66" /><Relationship Type="http://schemas.openxmlformats.org/officeDocument/2006/relationships/notesMaster" Target="/ppt/notesMasters/notesMaster1.xml" Id="Ra43e8e49a05447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a90f8af01b4064" /><Relationship Type="http://schemas.openxmlformats.org/officeDocument/2006/relationships/notesMaster" Target="/ppt/notesMasters/notesMaster1.xml" Id="R9174e8bd09ef40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0d94fae3d94812" /><Relationship Type="http://schemas.openxmlformats.org/officeDocument/2006/relationships/notesMaster" Target="/ppt/notesMasters/notesMaster1.xml" Id="R52df267744284a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bd7cd046d549e1" /><Relationship Type="http://schemas.openxmlformats.org/officeDocument/2006/relationships/notesMaster" Target="/ppt/notesMasters/notesMaster1.xml" Id="R321efceb263849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1d6ccc17db485f" /><Relationship Type="http://schemas.openxmlformats.org/officeDocument/2006/relationships/notesMaster" Target="/ppt/notesMasters/notesMaster1.xml" Id="Reaa9b7872a3e45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29496ebe214676" /><Relationship Type="http://schemas.openxmlformats.org/officeDocument/2006/relationships/notesMaster" Target="/ppt/notesMasters/notesMaster1.xml" Id="Ra7f4c4b2e2e94a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84cecde65845de" /><Relationship Type="http://schemas.openxmlformats.org/officeDocument/2006/relationships/notesMaster" Target="/ppt/notesMasters/notesMaster1.xml" Id="R55bd1a1e61ea41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cd479fdb2f485c" /><Relationship Type="http://schemas.openxmlformats.org/officeDocument/2006/relationships/notesMaster" Target="/ppt/notesMasters/notesMaster1.xml" Id="R77d991a7fd284c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0ed147e6014667" /><Relationship Type="http://schemas.openxmlformats.org/officeDocument/2006/relationships/notesMaster" Target="/ppt/notesMasters/notesMaster1.xml" Id="R1c626e1f73e34b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9be6c4e93c4936" /><Relationship Type="http://schemas.openxmlformats.org/officeDocument/2006/relationships/notesMaster" Target="/ppt/notesMasters/notesMaster1.xml" Id="R225e410986c947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cbcf74f34b420b" /><Relationship Type="http://schemas.openxmlformats.org/officeDocument/2006/relationships/notesMaster" Target="/ppt/notesMasters/notesMaster1.xml" Id="R937ab0c8e18444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5414e5d1014eed" /><Relationship Type="http://schemas.openxmlformats.org/officeDocument/2006/relationships/notesMaster" Target="/ppt/notesMasters/notesMaster1.xml" Id="Ra5df894e719c43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93c797bdf04791" /><Relationship Type="http://schemas.openxmlformats.org/officeDocument/2006/relationships/notesMaster" Target="/ppt/notesMasters/notesMaster1.xml" Id="R8b052ea63b9c4c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Pacote estratégico interno; valores sem histórico são hipóteses editáveis.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docs/ESTUDO_MERCADO_PRECIFICACAO.md</a:t>
            </a:r>
            <a:endParaRPr/>
          </a:p>
          <a:p xmlns:a="http://schemas.openxmlformats.org/drawingml/2006/main">
            <a:r>
              <a:t>- docs/LOTTI_UNIT_ECONOMICS.xlsx</a:t>
            </a:r>
            <a:endParaRPr/>
          </a:p>
          <a:p xmlns:a="http://schemas.openxmlformats.org/drawingml/2006/main">
            <a:r>
              <a:t>- src/App.tsx</a:t>
            </a:r>
            <a:endParaRPr/>
          </a:p>
          <a:p xmlns:a="http://schemas.openxmlformats.org/drawingml/2006/main">
            <a:r>
              <a:t>- src/services/paymentProvider.ts</a:t>
            </a:r>
            <a:endParaRPr/>
          </a:p>
          <a:p xmlns:a="http://schemas.openxmlformats.org/drawingml/2006/main">
            <a:r>
              <a:t>- supabase/migrations/*planos*.sql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src/App.tsx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src/services/paymentProvider.ts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supabase/migrations/*planos*.sql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src/App.tsx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src/services/paymentProvider.ts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supabase/migrations/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ICP é uma hipótese de beachhead, não histórico de clientes.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https://www.cofeci.gov.br/post/sistema-cofeci-creci-rompendo-fronteiras-e-gerando-neg%C3%B3cios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Cenário bottom-up; não representa forecast.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https://www.cofeci.gov.br/post/sistema-cofeci-creci-rompendo-fronteiras-e-gerando-neg%C3%B3cios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https://www.jetimob.com/planos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https://plataforma.kenlo.com.br/kenlo-imob-planos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https://tecimob.com.br/planos/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https://www.vistasoft.com.br/plano-crm/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https://www.imobzi.com/planos-para-cobrancas-recorrentes-com-crm-e-erp/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https://www.jetimob.com/planos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https://plataforma.kenlo.com.br/kenlo-imob-planos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https://tecimob.com.br/planos/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https://www.vistasoft.com.br/plano-crm/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https://www.imobzi.com/planos-para-cobrancas-recorrentes-com-crm-e-erp/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https://superlogica.com/imobiliarias/planos/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src/App.tsx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https://www.jetimob.com/planos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https://plataforma.kenlo.com.br/kenlo-imob-planos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https://tecimob.com.br/planos/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https://www.vistasoft.com.br/plano-crm/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supabase/migrations/*planos*.sql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supabase/migrations/*planos*.sql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https://supabase.com/pricing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https://vercel.com/docs/plans/pro-plan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https://ai.google.dev/gemini-api/docs/pricing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https://www.asaas.com/precos-e-taxas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https://whatsappbusiness.com/products/platform-pricing/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https://olinda.bcb.gov.br/olinda/servico/PTAX/versao/v1/odata/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CAC, churn e mix são premissas editáveis.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docs/unit-economics.csv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Preços recomendados são hipótese de experimento.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https://www.asaas.com/precos-e-taxas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https://stripe.com/br/pricing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https://stripe.com/br/billing/pricing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https://vindi.com.br/precos/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https://www.iugu.com/planos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https://docs.pagar.me/docs/overview-recorr%C3%AAncia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https://www.mercadopago.com.br/blog/como-receber-pagamentos-recorrentes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Stress tests usam premissas, não histórico.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docs/ESTUDO_MERCADO_PRECIFICACAO.md</a:t>
            </a:r>
            <a:endParaRPr/>
          </a:p>
          <a:p xmlns:a="http://schemas.openxmlformats.org/drawingml/2006/main"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7e3e7baa74b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88e7797f34e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7c6c4faca47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71e69fb144d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a9d9ffd834b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a7488934f4a6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d925e44fb42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30ac4da994b3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4e29c819324400" /><Relationship Type="http://schemas.openxmlformats.org/officeDocument/2006/relationships/slideLayout" Target="/ppt/slideLayouts/slideLayout1.xml" Id="R5029aa9d17464b3e" /><Relationship Type="http://schemas.openxmlformats.org/officeDocument/2006/relationships/slideLayout" Target="/ppt/slideLayouts/slideLayout2.xml" Id="R8002c1e90d2945d0" /><Relationship Type="http://schemas.openxmlformats.org/officeDocument/2006/relationships/slideLayout" Target="/ppt/slideLayouts/slideLayout3.xml" Id="R5c2b5b05bac240e2" /><Relationship Type="http://schemas.openxmlformats.org/officeDocument/2006/relationships/slideLayout" Target="/ppt/slideLayouts/slideLayout4.xml" Id="Rf53cad7d43754be0" /><Relationship Type="http://schemas.openxmlformats.org/officeDocument/2006/relationships/slideLayout" Target="/ppt/slideLayouts/slideLayout5.xml" Id="Rc50af145541b4c14" /><Relationship Type="http://schemas.openxmlformats.org/officeDocument/2006/relationships/slideLayout" Target="/ppt/slideLayouts/slideLayout6.xml" Id="R302e55e18cfb4f43" /><Relationship Type="http://schemas.openxmlformats.org/officeDocument/2006/relationships/slideLayout" Target="/ppt/slideLayouts/slideLayout7.xml" Id="R3eb6c4a96b144e2e" /><Relationship Type="http://schemas.openxmlformats.org/officeDocument/2006/relationships/slideLayout" Target="/ppt/slideLayouts/slideLayout8.xml" Id="R5cd765a30777404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29aa9d17464b3e"/>
    <p:sldLayoutId xmlns:r="http://schemas.openxmlformats.org/officeDocument/2006/relationships" id="2147483650" r:id="R8002c1e90d2945d0"/>
    <p:sldLayoutId xmlns:r="http://schemas.openxmlformats.org/officeDocument/2006/relationships" id="2147483651" r:id="R5c2b5b05bac240e2"/>
    <p:sldLayoutId xmlns:r="http://schemas.openxmlformats.org/officeDocument/2006/relationships" id="2147483652" r:id="Rf53cad7d43754be0"/>
    <p:sldLayoutId xmlns:r="http://schemas.openxmlformats.org/officeDocument/2006/relationships" id="2147483653" r:id="Rc50af145541b4c14"/>
    <p:sldLayoutId xmlns:r="http://schemas.openxmlformats.org/officeDocument/2006/relationships" id="2147483654" r:id="R302e55e18cfb4f43"/>
    <p:sldLayoutId xmlns:r="http://schemas.openxmlformats.org/officeDocument/2006/relationships" id="2147483655" r:id="R3eb6c4a96b144e2e"/>
    <p:sldLayoutId xmlns:r="http://schemas.openxmlformats.org/officeDocument/2006/relationships" id="2147483656" r:id="R5cd765a30777404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afaa0fc2c4415" /><Relationship Type="http://schemas.openxmlformats.org/officeDocument/2006/relationships/notesSlide" Target="/ppt/notesSlides/notesSlide1.xml" Id="R8594b3eed619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cc5a359e44cfe" /><Relationship Type="http://schemas.openxmlformats.org/officeDocument/2006/relationships/notesSlide" Target="/ppt/notesSlides/notesSlide2.xml" Id="Raaded1f5e3c74b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6558c23a074710" /><Relationship Type="http://schemas.openxmlformats.org/officeDocument/2006/relationships/notesSlide" Target="/ppt/notesSlides/notesSlide3.xml" Id="R97d6e0090116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3f17ebea5b4e6e" /><Relationship Type="http://schemas.openxmlformats.org/officeDocument/2006/relationships/notesSlide" Target="/ppt/notesSlides/notesSlide4.xml" Id="R808863dac0e54c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8d82ff3344df2" /><Relationship Type="http://schemas.openxmlformats.org/officeDocument/2006/relationships/chart" Target="/ppt/slides/charts/chart1.xml" Id="R88925308adc64125" /><Relationship Type="http://schemas.openxmlformats.org/officeDocument/2006/relationships/chart" Target="/ppt/slides/charts/chart2.xml" Id="R94a030036cce4e54" /><Relationship Type="http://schemas.openxmlformats.org/officeDocument/2006/relationships/notesSlide" Target="/ppt/notesSlides/notesSlide5.xml" Id="R42e81e68a029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a24a572974d7d" /><Relationship Type="http://schemas.openxmlformats.org/officeDocument/2006/relationships/notesSlide" Target="/ppt/notesSlides/notesSlide6.xml" Id="R97dab96093b147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00ed784444e08" /><Relationship Type="http://schemas.openxmlformats.org/officeDocument/2006/relationships/notesSlide" Target="/ppt/notesSlides/notesSlide7.xml" Id="Re945ca4babe34c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1a1a0ad184a36" /><Relationship Type="http://schemas.openxmlformats.org/officeDocument/2006/relationships/notesSlide" Target="/ppt/notesSlides/notesSlide8.xml" Id="R40d3c1eb19434b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83b1acd4a4713" /><Relationship Type="http://schemas.openxmlformats.org/officeDocument/2006/relationships/chart" Target="/ppt/slides/charts/chart3.xml" Id="R924ec304df64400b" /><Relationship Type="http://schemas.openxmlformats.org/officeDocument/2006/relationships/chart" Target="/ppt/slides/charts/chart4.xml" Id="Ra0ebd8512582484a" /><Relationship Type="http://schemas.openxmlformats.org/officeDocument/2006/relationships/notesSlide" Target="/ppt/notesSlides/notesSlide9.xml" Id="R6a55895cd8b248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dba65a37cd4453" /><Relationship Type="http://schemas.openxmlformats.org/officeDocument/2006/relationships/notesSlide" Target="/ppt/notesSlides/notesSlide10.xml" Id="R8cbb30fa6e874c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0ae69d6b34d59" /><Relationship Type="http://schemas.openxmlformats.org/officeDocument/2006/relationships/chart" Target="/ppt/slides/charts/chart5.xml" Id="Rf66ec979f2604eb3" /><Relationship Type="http://schemas.openxmlformats.org/officeDocument/2006/relationships/chart" Target="/ppt/slides/charts/chart6.xml" Id="R7903b12c7fe04069" /><Relationship Type="http://schemas.openxmlformats.org/officeDocument/2006/relationships/notesSlide" Target="/ppt/notesSlides/notesSlide11.xml" Id="R481c033809554b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bc8e29b1642f3" /><Relationship Type="http://schemas.openxmlformats.org/officeDocument/2006/relationships/chart" Target="/ppt/slides/charts/chart7.xml" Id="R1791d6efa78c40a1" /><Relationship Type="http://schemas.openxmlformats.org/officeDocument/2006/relationships/chart" Target="/ppt/slides/charts/chart8.xml" Id="R78f7aca64cbf453f" /><Relationship Type="http://schemas.openxmlformats.org/officeDocument/2006/relationships/notesSlide" Target="/ppt/notesSlides/notesSlide12.xml" Id="Ra29621c55bc54f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791c6b27e45e6" /><Relationship Type="http://schemas.openxmlformats.org/officeDocument/2006/relationships/notesSlide" Target="/ppt/notesSlides/notesSlide13.xml" Id="R44faa3f2be1645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d28bdb5764380" /><Relationship Type="http://schemas.openxmlformats.org/officeDocument/2006/relationships/notesSlide" Target="/ppt/notesSlides/notesSlide14.xml" Id="R0b8071088b7d42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09041d7ad4fbb" /><Relationship Type="http://schemas.openxmlformats.org/officeDocument/2006/relationships/notesSlide" Target="/ppt/notesSlides/notesSlide15.xml" Id="R9d5fda1f9bba45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355611752496a" /><Relationship Type="http://schemas.openxmlformats.org/officeDocument/2006/relationships/chart" Target="/ppt/slides/charts/chart9.xml" Id="R77ba85bb81874e52" /><Relationship Type="http://schemas.openxmlformats.org/officeDocument/2006/relationships/chart" Target="/ppt/slides/charts/chart10.xml" Id="R3c6ca64c0436415e" /><Relationship Type="http://schemas.openxmlformats.org/officeDocument/2006/relationships/notesSlide" Target="/ppt/notesSlides/notesSlide16.xml" Id="R404fa74985c44e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db0349ef54716" /><Relationship Type="http://schemas.openxmlformats.org/officeDocument/2006/relationships/notesSlide" Target="/ppt/notesSlides/notesSlide17.xml" Id="Ra16a705c3e8249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a370c8534579" /><Relationship Type="http://schemas.openxmlformats.org/officeDocument/2006/relationships/notesSlide" Target="/ppt/notesSlides/notesSlide18.xml" Id="R03d8d6a84a8d4557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 (R$ mi)</c:v>
          </c:tx>
          <c:spPr>
            <a:solidFill xmlns:a="http://schemas.openxmlformats.org/drawingml/2006/main">
              <a:srgbClr val="3357B8"/>
            </a:solidFill>
          </c:spPr>
          <c:cat>
            <c:strLit>
              <c:ptCount val="4"/>
              <c:pt idx="0">
                <c:v>1 mil</c:v>
              </c:pt>
              <c:pt idx="1">
                <c:v>5 mil</c:v>
              </c:pt>
              <c:pt idx="2">
                <c:v>10 mil</c:v>
              </c:pt>
              <c:pt idx="3">
                <c:v>20 mil</c:v>
              </c:pt>
            </c:strLit>
          </c:cat>
          <c:val>
            <c:numLit>
              <c:formatCode>0.0</c:formatCode>
              <c:ptCount val="4"/>
              <c:pt idx="0">
                <c:v>2.5</c:v>
              </c:pt>
              <c:pt idx="1">
                <c:v>12.5</c:v>
              </c:pt>
              <c:pt idx="2">
                <c:v>25</c:v>
              </c:pt>
              <c:pt idx="3">
                <c:v>49.9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ARR (R$ mi)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Preço de entrada (R$)</c:v>
          </c:tx>
          <c:spPr>
            <a:solidFill xmlns:a="http://schemas.openxmlformats.org/drawingml/2006/main">
              <a:srgbClr val="3357B8"/>
            </a:solidFill>
          </c:spPr>
          <c:cat>
            <c:strLit>
              <c:ptCount val="5"/>
              <c:pt idx="0">
                <c:v>Lotti atual</c:v>
              </c:pt>
              <c:pt idx="1">
                <c:v>Tecimob</c:v>
              </c:pt>
              <c:pt idx="2">
                <c:v>Vista</c:v>
              </c:pt>
              <c:pt idx="3">
                <c:v>Jetimob</c:v>
              </c:pt>
              <c:pt idx="4">
                <c:v>Kenlo</c:v>
              </c:pt>
            </c:strLit>
          </c:cat>
          <c:val>
            <c:numLit>
              <c:formatCode>R$ 0</c:formatCode>
              <c:ptCount val="5"/>
              <c:pt idx="0">
                <c:v>99</c:v>
              </c:pt>
              <c:pt idx="1">
                <c:v>129.9</c:v>
              </c:pt>
              <c:pt idx="2">
                <c:v>129.9</c:v>
              </c:pt>
              <c:pt idx="3">
                <c:v>229</c:v>
              </c:pt>
              <c:pt idx="4">
                <c:v>247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R$/mês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7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R$ 0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COGS direto (R$)</c:v>
          </c:tx>
          <c:spPr>
            <a:solidFill xmlns:a="http://schemas.openxmlformats.org/drawingml/2006/main">
              <a:srgbClr val="3357B8"/>
            </a:solidFill>
          </c:spPr>
          <c:cat>
            <c:strLit>
              <c:ptCount val="3"/>
              <c:pt idx="0">
                <c:v>Light</c:v>
              </c:pt>
              <c:pt idx="1">
                <c:v>Normal</c:v>
              </c:pt>
              <c:pt idx="2">
                <c:v>Power</c:v>
              </c:pt>
            </c:strLit>
          </c:cat>
          <c:val>
            <c:numLit>
              <c:formatCode>R$ 0</c:formatCode>
              <c:ptCount val="3"/>
              <c:pt idx="0">
                <c:v>11.48</c:v>
              </c:pt>
              <c:pt idx="1">
                <c:v>44.49</c:v>
              </c:pt>
              <c:pt idx="2">
                <c:v>204.93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R$/conta/mês</a:t>
                </a:r>
              </a:p>
            </c:rich>
          </c:tx>
          <c:overlay val="0"/>
        </c:title>
        <c:numFmt formatCode="R$ 0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Margem bruta (%)</c:v>
          </c:tx>
          <c:spPr>
            <a:ln xmlns:a="http://schemas.openxmlformats.org/drawingml/2006/main" w="28575">
              <a:solidFill>
                <a:srgbClr val="3357B8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357B8"/>
              </a:solidFill>
            </c:spPr>
          </c:marker>
          <c:cat>
            <c:strLit>
              <c:ptCount val="8"/>
              <c:pt idx="0">
                <c:v>10</c:v>
              </c:pt>
              <c:pt idx="1">
                <c:v>50</c:v>
              </c:pt>
              <c:pt idx="2">
                <c:v>100</c:v>
              </c:pt>
              <c:pt idx="3">
                <c:v>250</c:v>
              </c:pt>
              <c:pt idx="4">
                <c:v>500</c:v>
              </c:pt>
              <c:pt idx="5">
                <c:v>1k</c:v>
              </c:pt>
              <c:pt idx="6">
                <c:v>5k</c:v>
              </c:pt>
              <c:pt idx="7">
                <c:v>10k</c:v>
              </c:pt>
            </c:strLit>
          </c:cat>
          <c:val>
            <c:numLit>
              <c:formatCode>0.0%</c:formatCode>
              <c:ptCount val="8"/>
              <c:pt idx="0">
                <c:v>0.768</c:v>
              </c:pt>
              <c:pt idx="1">
                <c:v>0.819</c:v>
              </c:pt>
              <c:pt idx="2">
                <c:v>0.826</c:v>
              </c:pt>
              <c:pt idx="3">
                <c:v>0.83</c:v>
              </c:pt>
              <c:pt idx="4">
                <c:v>0.831</c:v>
              </c:pt>
              <c:pt idx="5">
                <c:v>0.832</c:v>
              </c:pt>
              <c:pt idx="6">
                <c:v>0.832</c:v>
              </c:pt>
              <c:pt idx="7">
                <c:v>0.832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contas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%</a:t>
                </a:r>
              </a:p>
            </c:rich>
          </c:tx>
          <c:overlay val="0"/>
        </c:title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LTV/CAC</c:v>
          </c:tx>
          <c:spPr>
            <a:solidFill xmlns:a="http://schemas.openxmlformats.org/drawingml/2006/main">
              <a:srgbClr val="3357B8"/>
            </a:solidFill>
          </c:spPr>
          <c:cat>
            <c:strLit>
              <c:ptCount val="4"/>
              <c:pt idx="0">
                <c:v>1,5%</c:v>
              </c:pt>
              <c:pt idx="1">
                <c:v>3%</c:v>
              </c:pt>
              <c:pt idx="2">
                <c:v>6%</c:v>
              </c:pt>
              <c:pt idx="3">
                <c:v>8%</c:v>
              </c:pt>
            </c:strLit>
          </c:cat>
          <c:val>
            <c:numLit>
              <c:formatCode>0.0x</c:formatCode>
              <c:ptCount val="4"/>
              <c:pt idx="0">
                <c:v>25.6</c:v>
              </c:pt>
              <c:pt idx="1">
                <c:v>12.8</c:v>
              </c:pt>
              <c:pt idx="2">
                <c:v>6.4</c:v>
              </c:pt>
              <c:pt idx="3">
                <c:v>4.8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churn mensal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x</a:t>
                </a:r>
              </a:p>
            </c:rich>
          </c:tx>
          <c:overlay val="0"/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C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Lotti: Business Review Estratégico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Mercado, produto real, unit economics e decisão de pricing para fundadores.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Agosto de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LOTTI • DECISÃO DOS FUNDADORES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626FF974-D804-40D4-9DA5-01BEF0A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A decisão: reposicionar preço antes de escalar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DIAGNÓSTICO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• Produto amplo; integrações desiguais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• R$99 / R$149 / R$299 comprime expansão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• Billing SaaS ainda mock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RECOMENDAÇÃO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Testar R$129 / R$249 / R$499 por coorte, com limites claros e kill criteria.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852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A Lotti já cobre o fluxo central da imobiliária — mas produto, cobrança e margem ainda não estão igualmente maduros.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Teste controlado por 4–6 semanas; sem migração automática da base.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Reposicionar preço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Instrumentar ativação, uso, conversão, churn e suporte por plano.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Provar antes de escalar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Meta de margem bruta ≥80%; guardrails para IA e perfil Power.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Controlar COGS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Produto real: potência comercial, maturidade desigual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CRM, clientes, imóveis, financeiro, jurídico, fachadas e locações estão nas rotas protegidas.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8529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Rotas, serviços e migrations confirmam uma suíte ampla. O risco é vender como homogêneo o que ainda tem níveis diferentes de prontidão.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58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AUDITORIA DO REPOSITÓRIO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Operacional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Gemini e Asaas existem; instrumentação, cobertura e limites ainda precisam de prova operacional.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Parcial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 assinatura SaaS usa MockPaymentProvider: preço não equivale a cobrança real.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Mock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Portais, WhatsApp oficial e assinatura eletrônica não apareceram no código auditado.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Não encontrado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USUÁRIO PRIMÁRIO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Corretor-dono ou gestor operacional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DORES FREQUENTES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• leads dispersos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• contratos lentos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• cobrança e repasse manuais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• baixa visão do funil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ICP: pequenas imobiliárias com operação fragmentada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JOBS TO BE DONE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captar e converter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publicar fachada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gerar e controlar contratos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administrar locações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cobrar, baixar e acompanhar caixa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888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Beachhead: 2–10 usuários, carteira ativa de venda e locação, baixa integração entre CRM, contratos e financeiro.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7664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Mercado grande; foco inicial precisa ser estreito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Chart 3" hidden="1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925308adc64125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20 mil contas é um cenário de foco — não uma previsão de participação.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Nicho inicial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20 mil contas × ARPA R$208 = R$49,9 mi ARR. Hipótese bottom-up.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ARR de referência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650 mil corretores e 74 mil empresas registradas no sistema Cofeci-Creci.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Mercado endereçável</a:t>
            </a:r>
          </a:p>
        </p:txBody>
      </p:sp>
      <p:graphicFrame>
        <p:nvGraphicFramePr>
          <p:cNvPr id="549" name="Chart"/>
          <p:cNvGraphicFramePr/>
          <p:nvPr/>
        </p:nvGraphicFramePr>
        <p:xfrm>
          <a:off xmlns:a="http://schemas.openxmlformats.org/drawingml/2006/main" x="408718" y="1023080"/>
          <a:ext xmlns:a="http://schemas.openxmlformats.org/drawingml/2006/main" cx="5124164" cy="522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a030036cce4e54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Concorrência: a âncora de entrada já está acima de R$129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Fornecedor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Entrada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Usuários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Ameaça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Jetimob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R$229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Kenlo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R$247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Tecimob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R$129,90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Média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Vista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R$129,90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Imobzi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Sob consulta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+R$59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Média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Planilha + WA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~R$0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livre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Lotti proposta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R$129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Leitura direta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Entrada pública: ~R$130–R$247/mês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Suites maduras cobram por usuários e módulos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Planilha + WhatsApp continua sendo o concorrente de adoção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Preço menor, sozinho, não vence switching cost.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03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Os cinco comparáveis principais combinam ICP, sobreposição funcional, distribuição, preço e ameaça estratégica.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17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Não copiar portfólio</a:t>
            </a:r>
          </a:p>
          <a:p xmlns:a="http://schemas.openxmlformats.org/drawingml/2006/main">
            <a:r>
              <a:t>Evitar virar catálogo de módulos antes de provar o núcleo.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17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Defender expansão</a:t>
            </a:r>
          </a:p>
          <a:p xmlns:a="http://schemas.openxmlformats.org/drawingml/2006/main">
            <a:r>
              <a:t>Usuários, IA, fachadas e volume criam monetização justa.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Onde competir — e onde não competir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640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Ganhar por foco</a:t>
            </a:r>
          </a:p>
          <a:p xmlns:a="http://schemas.openxmlformats.org/drawingml/2006/main">
            <a:r>
              <a:t>Fluxo completo para pequenas operações, com onboarding mensurável.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JETIMOB / KENLO / VISTA dominam repertório e distribuição. TECIMOB ancora preço baixo. IMOBZI une CRM e ERP. A brecha é adoção guiada com uma operação coerente e menos montagem.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58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Lotti não deve vencer por quantidade de módulos. Deve reduzir o atrito entre comercial, contrato, locação e caixa.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Diferenciação defensável = fluxo + adoção + dados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Lead → imóvel → contrato → cobrança → baixa, com contexto compartilhado.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7043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vantagem só aparece quando a Lotti transforma vários módulos em menos retrabalho, menor tempo de resposta e melhor controle do caixa.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58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PRODUTO ≠ LISTA DE FEATURES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Orquestração ponta a ponta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Assistência aplicada a tarefas; não uma aba isolada de chatbot.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IA útil no fluxo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Primeiro valor em dias, com importação e acompanhamento do uso.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Experiência de adoção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Limites entendíveis e expansão previsível, sem surpresa de custo.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Economia transparente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7664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R$99 / R$149 / R$299: agressivo, não validado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Chart 3" hidden="1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4ec304df64400b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695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67%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77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salto Essencial → Profissional na proposta equilibrada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695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100%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047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salto Profissional → Imobiliária: expansão legível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O preço atual fica abaixo de comparáveis e dá pouco espaço para onboarding, suporte e picos de IA. O risco maior é aprender com a coorte errada.</a:t>
            </a:r>
          </a:p>
        </p:txBody>
      </p:sp>
      <p:graphicFrame>
        <p:nvGraphicFramePr>
          <p:cNvPr id="547" name="Chart"/>
          <p:cNvGraphicFramePr/>
          <p:nvPr/>
        </p:nvGraphicFramePr>
        <p:xfrm>
          <a:off xmlns:a="http://schemas.openxmlformats.org/drawingml/2006/main" x="408718" y="1023080"/>
          <a:ext xmlns:a="http://schemas.openxmlformats.org/drawingml/2006/main" cx="5124164" cy="522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ebd8512582484a"/>
          </a:graphicData>
        </a:graphic>
      </p:graphicFrame>
    </p:spTree>
    <p:extLst>
      <p:ext uri="{BB962C8B-B14F-4D97-AF65-F5344CB8AC3E}">
        <p14:creationId xmlns:p14="http://schemas.microsoft.com/office/powerpoint/2010/main" val="3993831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Planos atuais: bons limites, escada de valor comprimida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Plano atual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Preço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Limites-chave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Risco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Essencial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R$99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 user • 100 imóveis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baixo ARPA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Profissional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R$149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 • 500 • Asaas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 comprimido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Imobiliária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R$299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 • ilimitado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subprecificado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Anual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10× mensal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 meses off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desconto alto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Add-ons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R$19–49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user/IA/GB/WA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boa expansão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Risco estrutural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O plano de R$149 inclui locações, Asaas e 300 interações de assistente; o de R$299 promete escala relevante por apenas R$150 adicionais.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Sem telemetria, o mix pode concentrar usuários caros no meio da escada.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149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Entitlements já codificados permitem vender progressão — mas o valor e o custo de servir não estão refletidos no preço.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5497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COGS: o perfil Power custa 18× o Light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Chart 3" hidden="1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6ec979f2604eb3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R$44,49/mês — hipótese central para modelagem de custo.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Normal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R$204,93/mês — exige limites, créditos e expansão paga.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Power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R$11,48/mês — baixa IA, poucos documentos e pouco suporte.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Light</a:t>
            </a:r>
          </a:p>
        </p:txBody>
      </p:sp>
      <p:graphicFrame>
        <p:nvGraphicFramePr>
          <p:cNvPr id="549" name="Chart"/>
          <p:cNvGraphicFramePr/>
          <p:nvPr/>
        </p:nvGraphicFramePr>
        <p:xfrm>
          <a:off xmlns:a="http://schemas.openxmlformats.org/drawingml/2006/main" x="408718" y="1023080"/>
          <a:ext xmlns:a="http://schemas.openxmlformats.org/drawingml/2006/main" cx="5124164" cy="522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03b12c7fe04069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7664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Economia-base é boa — se as hipóteses sobreviverem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Chart 3" hidden="1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91d6efa78c40a1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695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83,2%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margem bruta no mix equilibrado, em escala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695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12,8×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LTV/CAC com CAC R$450 e churn mensal de 3%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ARPA R$208 • COGS R$34,93 • contribuição R$151,23 • payback 3,0 meses. Tudo é scenario-driven; nenhum valor é histórico empresarial.</a:t>
            </a:r>
          </a:p>
        </p:txBody>
      </p:sp>
      <p:graphicFrame>
        <p:nvGraphicFramePr>
          <p:cNvPr id="547" name="Chart"/>
          <p:cNvGraphicFramePr/>
          <p:nvPr/>
        </p:nvGraphicFramePr>
        <p:xfrm>
          <a:off xmlns:a="http://schemas.openxmlformats.org/drawingml/2006/main" x="408718" y="1023080"/>
          <a:ext xmlns:a="http://schemas.openxmlformats.org/drawingml/2006/main" cx="5124164" cy="522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f7aca64cbf453f"/>
          </a:graphicData>
        </a:graphic>
      </p:graphicFrame>
    </p:spTree>
    <p:extLst>
      <p:ext uri="{BB962C8B-B14F-4D97-AF65-F5344CB8AC3E}">
        <p14:creationId xmlns:p14="http://schemas.microsoft.com/office/powerpoint/2010/main" val="3993831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Monetização recomendada: híbrida, simples na compra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Menor fricção de adoção e orçamento previsível.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conta deve ser a unidade de compra. Usuários e volumes viram guardrails; IA e canais variáveis viram créditos ou add-ons.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58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CONTA + CAPACIDADE + CRÉDITOS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Preço por conta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Usuários, imóveis, fachadas e automações protegem capacidade.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Limites por plano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Separam valor percebido de consumo variável e picos Power.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Créditos de IA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Usuários, storage, WhatsApp e onboarding ampliam ARPA.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Add-ons de expansão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Recomendação: R$129 / R$249 / R$499 em teste controlado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Plano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Mensal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Anual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Tese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Essencial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R$129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R$1.290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adoção solo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Profissional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R$249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R$2.490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núcleo do mix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Imobiliária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R$499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R$4.990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time + escala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Usuário extra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R$39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expansão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Créditos 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R$39+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protege COGS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Onboarding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R$499+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serviço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Guardrails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manter trial de 14 dias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anual em 10× mensal apenas após medir retenção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créditos para excedentes de 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onboarding pago para migração assistida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• revisão após 2 coortes completas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450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Faixa equilibrada: melhora ARPA, cria escada de valor e preserva entrada comparável ao piso do mercado.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Gateway: Asaas primeiro; arquitetura mantém separação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Gateway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Preço público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Fit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Decisão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Asaas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2,99% + R$0,49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alto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MVP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Stripe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3,99% + R$0,39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alto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alternativa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Vindi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R$299+ + tx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médio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escala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iugu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sob consulta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médio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cotação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Pagar.me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sob consulta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médio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cotação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Mercado Pago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recorrência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médio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benchmark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Decisão sugerida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1. Asaas para MVP de assinatura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2. abstração PaymentProvider preservada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3. fallback operacional definido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4. conciliação, dunning e webhooks testados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Reavaliar Stripe/Vindi quando expansão ou complexidade justificar.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7747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Escolha por fit local, custo público e velocidade. Billing SaaS deve continuar separado das cobranças de locação dos clientes.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6707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Stress test: churn domina a economia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8" name="Chart 3" hidden="1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ba85bb81874e52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LTV/CAC 12,8× e payback 3,0 meses no cenário-base.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3% churn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LTV/CAC 4,8×: ainda viável no papel, mas frágil a CAC e suporte.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8% churn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LTV/CAC 25,6× — excelente, mas ainda hipotético.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1,5% churn</a:t>
            </a:r>
          </a:p>
        </p:txBody>
      </p:sp>
      <p:graphicFrame>
        <p:nvGraphicFramePr>
          <p:cNvPr id="549" name="Chart"/>
          <p:cNvGraphicFramePr/>
          <p:nvPr/>
        </p:nvGraphicFramePr>
        <p:xfrm>
          <a:off xmlns:a="http://schemas.openxmlformats.org/drawingml/2006/main" x="408718" y="1023080"/>
          <a:ext xmlns:a="http://schemas.openxmlformats.org/drawingml/2006/main" cx="5124164" cy="522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6ca64c0436415e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90 dias: provar preço, margem e ativação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0–30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31–45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46–60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61–75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76–90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Onboarding + gateway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Go / ajustar / parar</a:t>
            </a:r>
            <a:endParaRPr sz="15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Revisão de margem/coortes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Experimento de preço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Entitlements + billing real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Instrumentação e baseline</a:t>
            </a:r>
            <a:endParaRPr sz="1500">
              <a:solidFill>
                <a:schemeClr val="bg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937510"/>
            <a:ext cx="9448800" cy="249149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1"/>
                </a:solidFill>
              </a:rPr>
              <a:t>Lotti pode cobrar mais — depois de provar por quê.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201" y="4532466"/>
            <a:ext cx="6458364" cy="1388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Decidir faixa e guardrails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Autorizar cobrança real e experimento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Revisar coortes em 30 / 60 / 90 dias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BB06FA46-3724-4837-BBD8-8838A707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2026-08-13T01:36:17.4290000Z</dcterms:created>
  <dcterms:modified xsi:type="dcterms:W3CDTF">2026-08-13T01:36:17.4290000Z</dcterms:modified>
</coreProperties>
</file>